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4304A"/>
                </a:solidFill>
                <a:latin typeface="Cambria"/>
              </a:rPr>
              <a:t>AAV Capsid Architecture: The Icosahedral Symmetry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45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4304A"/>
                </a:solidFill>
                <a:latin typeface="Calibri"/>
              </a:rPr>
              <a:t>60 VP subunits </a:t>
            </a:r>
            <a:r>
              <a:rPr sz="1300" b="0" i="0">
                <a:solidFill>
                  <a:srgbClr val="243447"/>
                </a:solidFill>
                <a:latin typeface="Calibri"/>
              </a:rPr>
              <a:t>(VP1:VP2:VP3 ≈ 1:1:10) in T=1 icosahedral symmetry (~26 nm). Each subunit is an 8-stranded β-barrel; its surface loops (variable regions VR-I–IX) build the topology at the 2-, 3-, and 5-fold axes.</a:t>
            </a:r>
          </a:p>
        </p:txBody>
      </p:sp>
      <p:pic>
        <p:nvPicPr>
          <p:cNvPr id="4" name="Picture 3" descr="aav_caps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08169"/>
            <a:ext cx="4206240" cy="446579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617720" y="1627632"/>
            <a:ext cx="7178040" cy="1463040"/>
          </a:xfrm>
          <a:prstGeom prst="roundRect">
            <a:avLst>
              <a:gd name="adj" fmla="val 6000"/>
            </a:avLst>
          </a:prstGeom>
          <a:solidFill>
            <a:srgbClr val="CDE7DE"/>
          </a:solidFill>
          <a:ln w="12700">
            <a:solidFill>
              <a:srgbClr val="0F8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82312" y="1773936"/>
            <a:ext cx="14173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0F8A6B"/>
                </a:solidFill>
                <a:latin typeface="Calibri"/>
              </a:rPr>
              <a:t>5-fold</a:t>
            </a:r>
          </a:p>
          <a:p>
            <a:r>
              <a:rPr sz="1200" b="0" i="1">
                <a:solidFill>
                  <a:srgbClr val="5A6B7B"/>
                </a:solidFill>
                <a:latin typeface="Calibri"/>
              </a:rPr>
              <a:t>vertex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46504"/>
            <a:ext cx="5303520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050" b="1" i="0">
                <a:solidFill>
                  <a:srgbClr val="0F8A6B"/>
                </a:solidFill>
                <a:latin typeface="Calibri"/>
              </a:rPr>
              <a:t>Topology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Pore / channel at the vertex, ringed by a canyon; walls from the DE loops of five subunits.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0F8A6B"/>
                </a:solidFill>
                <a:latin typeface="Calibri"/>
              </a:rPr>
              <a:t>Residues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Polar, largely uncharged rim (Asn / Thr / Gln-rich); near-neutral surface charge.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0F8A6B"/>
                </a:solidFill>
                <a:latin typeface="Calibri"/>
              </a:rPr>
              <a:t>Role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Genome packaging &amp; ejection portal; VP1u / PLA₂ externalization for endosomal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3264408"/>
            <a:ext cx="7178040" cy="1463040"/>
          </a:xfrm>
          <a:prstGeom prst="roundRect">
            <a:avLst>
              <a:gd name="adj" fmla="val 6000"/>
            </a:avLst>
          </a:prstGeom>
          <a:solidFill>
            <a:srgbClr val="CBDCEE"/>
          </a:solidFill>
          <a:ln w="12700">
            <a:solidFill>
              <a:srgbClr val="2A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3410712"/>
            <a:ext cx="14173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2A6FB0"/>
                </a:solidFill>
                <a:latin typeface="Calibri"/>
              </a:rPr>
              <a:t>3-fold</a:t>
            </a:r>
          </a:p>
          <a:p>
            <a:r>
              <a:rPr sz="1200" b="0" i="1">
                <a:solidFill>
                  <a:srgbClr val="5A6B7B"/>
                </a:solidFill>
                <a:latin typeface="Calibri"/>
              </a:rPr>
              <a:t>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383280"/>
            <a:ext cx="5303520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050" b="1" i="0">
                <a:solidFill>
                  <a:srgbClr val="2A6FB0"/>
                </a:solidFill>
                <a:latin typeface="Calibri"/>
              </a:rPr>
              <a:t>Topology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Tallest surface features — protrusions / “spikes” from intertwined VR loops of three subunits.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A6FB0"/>
                </a:solidFill>
                <a:latin typeface="Calibri"/>
              </a:rPr>
              <a:t>Residues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Most variable across serotypes; charged / basic patches carry most of the surface charge.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A6FB0"/>
                </a:solidFill>
                <a:latin typeface="Calibri"/>
              </a:rPr>
              <a:t>Role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Receptor binding &amp; tropism (AAVR) and the dominant antibody epitopes; capsid-engineering hotspot.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4901184"/>
            <a:ext cx="7178040" cy="1463040"/>
          </a:xfrm>
          <a:prstGeom prst="roundRect">
            <a:avLst>
              <a:gd name="adj" fmla="val 6000"/>
            </a:avLst>
          </a:prstGeom>
          <a:solidFill>
            <a:srgbClr val="EAD4A8"/>
          </a:solidFill>
          <a:ln w="12700">
            <a:solidFill>
              <a:srgbClr val="B879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5047488"/>
            <a:ext cx="14173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B8791A"/>
                </a:solidFill>
                <a:latin typeface="Calibri"/>
              </a:rPr>
              <a:t>2-fold</a:t>
            </a:r>
          </a:p>
          <a:p>
            <a:r>
              <a:rPr sz="1200" b="0" i="1">
                <a:solidFill>
                  <a:srgbClr val="5A6B7B"/>
                </a:solidFill>
                <a:latin typeface="Calibri"/>
              </a:rPr>
              <a:t>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020056"/>
            <a:ext cx="5303520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050" b="1" i="0">
                <a:solidFill>
                  <a:srgbClr val="B8791A"/>
                </a:solidFill>
                <a:latin typeface="Calibri"/>
              </a:rPr>
              <a:t>Topology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Depression / dimple at the two-subunit interface; a valley between the 3-fold protrusions.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B8791A"/>
                </a:solidFill>
                <a:latin typeface="Calibri"/>
              </a:rPr>
              <a:t>Residues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Conserved inter-subunit contacts; hydrophobic character in the depression floor.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B8791A"/>
                </a:solidFill>
                <a:latin typeface="Calibri"/>
              </a:rPr>
              <a:t>Role  —  </a:t>
            </a:r>
            <a:r>
              <a:rPr sz="1050" b="0" i="0">
                <a:solidFill>
                  <a:srgbClr val="243447"/>
                </a:solidFill>
                <a:latin typeface="Calibri"/>
              </a:rPr>
              <a:t>Capsid assembly &amp; mechanical stability of the VP–VP interface; secondary antibody epitopes.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1">
                <a:solidFill>
                  <a:srgbClr val="5A6B7B"/>
                </a:solidFill>
                <a:latin typeface="Calibri"/>
              </a:rPr>
              <a:t>Icosahedral asymmetric unit = one VP; 60 copies related by the 2-, 3-, and 5-fold axes.   [add structural refs, e.g. Xie 2002; Govindasamy; DiMattia]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